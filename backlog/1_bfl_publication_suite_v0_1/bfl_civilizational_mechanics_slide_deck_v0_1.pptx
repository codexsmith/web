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1E5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Externality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1E5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Civilizational Repair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6217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321"/>
                </a:solidFill>
              </a:rPr>
              <a:t>Civilization acts through executable representations. Boundary First Labs develops the mechanics needed to keep those representations answerable to embodied consequence and capable of lawful revision.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26680" y="100584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5F4D"/>
                </a:solidFill>
              </a:rPr>
              <a:t>Boundary First Labs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E5F4D"/>
                </a:solidFill>
              </a:rPr>
              <a:t>Publication Suite v0.1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0" y="2834640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1E5F4D"/>
          </a:solidFill>
          <a:ln>
            <a:solidFill>
              <a:srgbClr val="1E5F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Accounting defines what the system can see.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Software makes it executable.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Reality exposes what it omitted.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Evolution repairs the model.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Boundary First Labs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5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root pattern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66"/>
                </a:solidFill>
              </a:rPr>
              <a:t>The critique is structural: capacity can separate from return paths.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>
            <a:solidFill>
              <a:srgbClr val="1E5F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F4D"/>
                </a:solidFill>
              </a:rPr>
              <a:t>capacity to 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46120" y="181051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C4A2D"/>
                </a:solidFill>
              </a:rPr>
              <a:t>-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703320" y="1828800"/>
            <a:ext cx="2880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>
            <a:solidFill>
              <a:srgbClr val="1E5F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F4D"/>
                </a:solidFill>
              </a:rPr>
              <a:t>required return path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903720" y="181051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C4A2D"/>
                </a:solidFill>
              </a:rPr>
              <a:t>=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543800" y="182880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9C4A2D"/>
          </a:solidFill>
          <a:ln>
            <a:solidFill>
              <a:srgbClr val="9C4A2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exported consequence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C2321"/>
                </a:solidFill>
              </a:rPr>
              <a:t>The defining failure of the modern age is not abstraction itself. It is abstraction without return.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42519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321"/>
                </a:solidFill>
              </a:rPr>
              <a:t>Boundary First restores the return paths: consequence, standing, maintenance, provenance, and repair.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Boundary First Labs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5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There is no more outside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66"/>
                </a:solidFill>
              </a:rPr>
              <a:t>A burden moved beyond one boundary enters another interior.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solidFill>
              <a:srgbClr val="1E5F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F4D"/>
                </a:solidFill>
              </a:rPr>
              <a:t>Company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E5F4D"/>
                </a:solidFill>
              </a:rPr>
              <a:t>box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38160" y="118872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>
            <a:solidFill>
              <a:srgbClr val="26547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547C"/>
                </a:solidFill>
              </a:rPr>
              <a:t>Household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6547C"/>
                </a:solidFill>
              </a:rPr>
              <a:t>Community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6547C"/>
                </a:solidFill>
              </a:rPr>
              <a:t>Watershed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6547C"/>
                </a:solidFill>
              </a:rPr>
              <a:t>Public budget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063240" y="2194560"/>
            <a:ext cx="4937760" cy="0"/>
          </a:xfrm>
          <a:prstGeom prst="line">
            <a:avLst/>
          </a:prstGeom>
          <a:noFill/>
          <a:ln w="17780">
            <a:solidFill>
              <a:srgbClr val="9C4A2D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931920" y="141732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7F2E8"/>
          </a:solidFill>
          <a:ln>
            <a:solidFill>
              <a:srgbClr val="F7F2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4A2D"/>
                </a:solidFill>
              </a:rPr>
              <a:t>waste / risk / maintenance / unpaid labor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4023360"/>
            <a:ext cx="9601200" cy="731520"/>
          </a:xfrm>
          <a:prstGeom prst="roundRect">
            <a:avLst>
              <a:gd name="adj" fmla="val 10000"/>
            </a:avLst>
          </a:prstGeom>
          <a:solidFill>
            <a:srgbClr val="1E5F4D"/>
          </a:solidFill>
          <a:ln>
            <a:solidFill>
              <a:srgbClr val="1E5F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Every externality is someone else's internality.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507492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C2321"/>
                </a:solidFill>
              </a:rPr>
              <a:t>Externalization is not removal. It is transport without representation, agreement, or responsibility.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Boundary First Labs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5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Externality is an accounting boundary failure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66"/>
                </a:solidFill>
              </a:rPr>
              <a:t>Modern systems can no longer claim that consequences are too complex to represent.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>
            <a:solidFill>
              <a:srgbClr val="9C4A2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C4A2D"/>
                </a:solidFill>
              </a:rPr>
              <a:t>Old accounting boundary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9C4A2D"/>
                </a:solidFill>
              </a:rPr>
              <a:t>Benefit counted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9C4A2D"/>
                </a:solidFill>
              </a:rPr>
              <a:t>Burden omitted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617720" y="1371600"/>
            <a:ext cx="2926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>
            <a:solidFill>
              <a:srgbClr val="1E5F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4D"/>
                </a:solidFill>
              </a:rPr>
              <a:t>Software engineering boundary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5F4D"/>
                </a:solidFill>
              </a:rPr>
              <a:t>Normal states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5F4D"/>
                </a:solidFill>
              </a:rPr>
              <a:t>Failure modes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5F4D"/>
                </a:solidFill>
              </a:rPr>
              <a:t>Owners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5F4D"/>
                </a:solidFill>
              </a:rPr>
              <a:t>Repair paths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1371600"/>
            <a:ext cx="3154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>
            <a:solidFill>
              <a:srgbClr val="26547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547C"/>
                </a:solidFill>
              </a:rPr>
              <a:t>Civilizational accounting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6547C"/>
                </a:solidFill>
              </a:rPr>
              <a:t>Consequences represented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6547C"/>
                </a:solidFill>
              </a:rPr>
              <a:t>Lifecycle cost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6547C"/>
                </a:solidFill>
              </a:rPr>
              <a:t>Affected parties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6547C"/>
                </a:solidFill>
              </a:rPr>
              <a:t>Capacity preserved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11880" y="2377440"/>
            <a:ext cx="914400" cy="0"/>
          </a:xfrm>
          <a:prstGeom prst="line">
            <a:avLst/>
          </a:prstGeom>
          <a:noFill/>
          <a:ln w="17780">
            <a:solidFill>
              <a:srgbClr val="1E5F4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635240" y="2377440"/>
            <a:ext cx="502920" cy="0"/>
          </a:xfrm>
          <a:prstGeom prst="line">
            <a:avLst/>
          </a:prstGeom>
          <a:noFill/>
          <a:ln w="17780">
            <a:solidFill>
              <a:srgbClr val="1E5F4D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097280" y="4160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321"/>
                </a:solidFill>
              </a:rPr>
              <a:t>Professional software engineering already has the pattern: identify boundary conditions, exceptions, dependencies, owners, observability, rollback, and repair.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Boundary First Labs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5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is already artificial agency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66"/>
                </a:solidFill>
              </a:rPr>
              <a:t>AI accelerates a pre-existing institutional form.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21"/>
                </a:solidFill>
              </a:rPr>
              <a:t>contracts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6080" y="11887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21"/>
                </a:solidFill>
              </a:rPr>
              <a:t>accounts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20640" y="173736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21"/>
                </a:solidFill>
              </a:rPr>
              <a:t>procedures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0" y="11887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21"/>
                </a:solidFill>
              </a:rPr>
              <a:t>people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0" y="173736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21"/>
                </a:solidFill>
              </a:rPr>
              <a:t>software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9718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E5F4D"/>
          </a:solidFill>
          <a:ln>
            <a:solidFill>
              <a:srgbClr val="1E5F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persistent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constructed agent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43434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321"/>
                </a:solidFill>
              </a:rPr>
              <a:t>A business senses, remembers, selects actions, delegates work, transforms environments, and preserves identity across time.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5212080"/>
            <a:ext cx="9692640" cy="685800"/>
          </a:xfrm>
          <a:prstGeom prst="roundRect">
            <a:avLst>
              <a:gd name="adj" fmla="val 10667"/>
            </a:avLst>
          </a:prstGeom>
          <a:solidFill>
            <a:srgbClr val="F7F2E8"/>
          </a:solidFill>
          <a:ln>
            <a:solidFill>
              <a:srgbClr val="F7F2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F4D"/>
                </a:solidFill>
              </a:rPr>
              <a:t>The corporation is the paper-speed ancestor of the artificial agent. AI gives it a faster nervous system.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Boundary First Labs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5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 root severances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66"/>
                </a:solidFill>
              </a:rPr>
              <a:t>One pattern appears across agency, value, knowledge, language, and repair.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31546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21"/>
                </a:solidFill>
              </a:rPr>
              <a:t>Agency / Consequence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51960" y="1325880"/>
            <a:ext cx="3154680" cy="493776"/>
          </a:xfrm>
          <a:prstGeom prst="roundRect">
            <a:avLst>
              <a:gd name="adj" fmla="val 14815"/>
            </a:avLst>
          </a:prstGeom>
          <a:solidFill>
            <a:srgbClr val="F7F2E8"/>
          </a:solidFill>
          <a:ln>
            <a:solidFill>
              <a:srgbClr val="DCE7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21"/>
                </a:solidFill>
              </a:rPr>
              <a:t>Representation / Reality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09560" y="1325880"/>
            <a:ext cx="31546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21"/>
                </a:solidFill>
              </a:rPr>
              <a:t>Authority / Standing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3154680" cy="493776"/>
          </a:xfrm>
          <a:prstGeom prst="roundRect">
            <a:avLst>
              <a:gd name="adj" fmla="val 14815"/>
            </a:avLst>
          </a:prstGeom>
          <a:solidFill>
            <a:srgbClr val="F7F2E8"/>
          </a:solidFill>
          <a:ln>
            <a:solidFill>
              <a:srgbClr val="DCE7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21"/>
                </a:solidFill>
              </a:rPr>
              <a:t>Responsibility / Capacity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51960" y="2148840"/>
            <a:ext cx="31546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21"/>
                </a:solidFill>
              </a:rPr>
              <a:t>Construction / Stewardship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09560" y="2148840"/>
            <a:ext cx="3154680" cy="493776"/>
          </a:xfrm>
          <a:prstGeom prst="roundRect">
            <a:avLst>
              <a:gd name="adj" fmla="val 14815"/>
            </a:avLst>
          </a:prstGeom>
          <a:solidFill>
            <a:srgbClr val="F7F2E8"/>
          </a:solidFill>
          <a:ln>
            <a:solidFill>
              <a:srgbClr val="DCE7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21"/>
                </a:solidFill>
              </a:rPr>
              <a:t>Value / Durable Capacity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971800"/>
            <a:ext cx="31546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21"/>
                </a:solidFill>
              </a:rPr>
              <a:t>Local Success / Systemic Closure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51960" y="2971800"/>
            <a:ext cx="3154680" cy="493776"/>
          </a:xfrm>
          <a:prstGeom prst="roundRect">
            <a:avLst>
              <a:gd name="adj" fmla="val 14815"/>
            </a:avLst>
          </a:prstGeom>
          <a:solidFill>
            <a:srgbClr val="F7F2E8"/>
          </a:solidFill>
          <a:ln>
            <a:solidFill>
              <a:srgbClr val="DCE7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21"/>
                </a:solidFill>
              </a:rPr>
              <a:t>Legibility / Reciprocity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09560" y="2971800"/>
            <a:ext cx="31546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21"/>
                </a:solidFill>
              </a:rPr>
              <a:t>Language / Operational Meaning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794760"/>
            <a:ext cx="3154680" cy="493776"/>
          </a:xfrm>
          <a:prstGeom prst="roundRect">
            <a:avLst>
              <a:gd name="adj" fmla="val 14815"/>
            </a:avLst>
          </a:prstGeom>
          <a:solidFill>
            <a:srgbClr val="F7F2E8"/>
          </a:solidFill>
          <a:ln>
            <a:solidFill>
              <a:srgbClr val="DCE7D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21"/>
                </a:solidFill>
              </a:rPr>
              <a:t>Knowledge / Provenance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51960" y="489204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1E5F4D"/>
          </a:solidFill>
          <a:ln>
            <a:solidFill>
              <a:srgbClr val="1E5F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Abstraction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without return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Boundary First Labs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5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Boundary First makes repair operational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66"/>
                </a:solidFill>
              </a:rPr>
              <a:t>It converts critique into a repeatable mechanics of consequence closure.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>
            <a:solidFill>
              <a:srgbClr val="1E5F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4D"/>
                </a:solidFill>
              </a:rPr>
              <a:t>Boundary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0" y="128016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>
            <a:solidFill>
              <a:srgbClr val="1E5F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4D"/>
                </a:solidFill>
              </a:rPr>
              <a:t>Invariant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00600" y="196596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>
            <a:solidFill>
              <a:srgbClr val="1E5F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4D"/>
                </a:solidFill>
              </a:rPr>
              <a:t>Defect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12280" y="128016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>
            <a:solidFill>
              <a:srgbClr val="1E5F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4D"/>
                </a:solidFill>
              </a:rPr>
              <a:t>Repair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15400" y="196596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>
            <a:solidFill>
              <a:srgbClr val="1E5F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4D"/>
                </a:solidFill>
              </a:rPr>
              <a:t>Promotion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31720" y="2276856"/>
            <a:ext cx="338328" cy="-685800"/>
          </a:xfrm>
          <a:prstGeom prst="line">
            <a:avLst/>
          </a:prstGeom>
          <a:noFill/>
          <a:ln w="17780">
            <a:solidFill>
              <a:srgbClr val="1E5F4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60520" y="1591056"/>
            <a:ext cx="566928" cy="685800"/>
          </a:xfrm>
          <a:prstGeom prst="line">
            <a:avLst/>
          </a:prstGeom>
          <a:noFill/>
          <a:ln w="17780">
            <a:solidFill>
              <a:srgbClr val="1E5F4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17920" y="2276856"/>
            <a:ext cx="521208" cy="-685800"/>
          </a:xfrm>
          <a:prstGeom prst="line">
            <a:avLst/>
          </a:prstGeom>
          <a:noFill/>
          <a:ln w="17780">
            <a:solidFill>
              <a:srgbClr val="1E5F4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0" y="1591056"/>
            <a:ext cx="612648" cy="685800"/>
          </a:xfrm>
          <a:prstGeom prst="line">
            <a:avLst/>
          </a:prstGeom>
          <a:noFill/>
          <a:ln w="17780">
            <a:solidFill>
              <a:srgbClr val="1E5F4D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51560" y="3840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C2321"/>
                </a:solidFill>
              </a:rPr>
              <a:t>Ask what must remain true, where closure can fail, who can detect the failure, and what repair path can restore or transform the system.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325880" y="4892040"/>
            <a:ext cx="9326880" cy="685800"/>
          </a:xfrm>
          <a:prstGeom prst="roundRect">
            <a:avLst>
              <a:gd name="adj" fmla="val 10667"/>
            </a:avLst>
          </a:prstGeom>
          <a:solidFill>
            <a:srgbClr val="1E5F4D"/>
          </a:solidFill>
          <a:ln>
            <a:solidFill>
              <a:srgbClr val="1E5F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The goal is not to eliminate boundaries. It is to make boundary crossings visible, accountable, and repairable.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Boundary First Labs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5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Representational evolution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66"/>
                </a:solidFill>
              </a:rPr>
              <a:t>Systems survive by revising the distinctions through which reality becomes actionable.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201168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>
            <a:solidFill>
              <a:srgbClr val="1E5F4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F4D"/>
                </a:solidFill>
              </a:rPr>
              <a:t>Representation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94560" y="2331720"/>
            <a:ext cx="228600" cy="0"/>
          </a:xfrm>
          <a:prstGeom prst="line">
            <a:avLst/>
          </a:prstGeom>
          <a:noFill/>
          <a:ln w="17780">
            <a:solidFill>
              <a:srgbClr val="1E5F4D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468880" y="201168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>
            <a:solidFill>
              <a:srgbClr val="1E5F4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F4D"/>
                </a:solidFill>
              </a:rPr>
              <a:t>Operation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69080" y="2331720"/>
            <a:ext cx="228600" cy="0"/>
          </a:xfrm>
          <a:prstGeom prst="line">
            <a:avLst/>
          </a:prstGeom>
          <a:noFill/>
          <a:ln w="17780">
            <a:solidFill>
              <a:srgbClr val="1E5F4D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343400" y="201168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>
            <a:solidFill>
              <a:srgbClr val="1E5F4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F4D"/>
                </a:solidFill>
              </a:rPr>
              <a:t>Reality contact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2331720"/>
            <a:ext cx="228600" cy="0"/>
          </a:xfrm>
          <a:prstGeom prst="line">
            <a:avLst/>
          </a:prstGeom>
          <a:noFill/>
          <a:ln w="17780">
            <a:solidFill>
              <a:srgbClr val="1E5F4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217920" y="201168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9C4A2D"/>
          </a:solidFill>
          <a:ln>
            <a:solidFill>
              <a:srgbClr val="9C4A2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Defect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18120" y="2331720"/>
            <a:ext cx="228600" cy="0"/>
          </a:xfrm>
          <a:prstGeom prst="line">
            <a:avLst/>
          </a:prstGeom>
          <a:noFill/>
          <a:ln w="17780">
            <a:solidFill>
              <a:srgbClr val="1E5F4D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092440" y="201168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>
            <a:solidFill>
              <a:srgbClr val="1E5F4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F4D"/>
                </a:solidFill>
              </a:rPr>
              <a:t>New distinction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92640" y="2331720"/>
            <a:ext cx="228600" cy="0"/>
          </a:xfrm>
          <a:prstGeom prst="line">
            <a:avLst/>
          </a:prstGeom>
          <a:noFill/>
          <a:ln w="17780">
            <a:solidFill>
              <a:srgbClr val="1E5F4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966960" y="201168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>
            <a:solidFill>
              <a:srgbClr val="1E5F4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F4D"/>
                </a:solidFill>
              </a:rPr>
              <a:t>Revised representation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79476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C2321"/>
                </a:solidFill>
              </a:rPr>
              <a:t>Adaptation changes behavior inside the current space. Representational evolution revises the space of possible action.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463040" y="4846320"/>
            <a:ext cx="9235440" cy="658368"/>
          </a:xfrm>
          <a:prstGeom prst="roundRect">
            <a:avLst>
              <a:gd name="adj" fmla="val 11111"/>
            </a:avLst>
          </a:prstGeom>
          <a:solidFill>
            <a:srgbClr val="F7F2E8"/>
          </a:solidFill>
          <a:ln>
            <a:solidFill>
              <a:srgbClr val="F7F2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F4D"/>
                </a:solidFill>
              </a:rPr>
              <a:t>Every consequential representation must contain a lawful path for its own revision.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Boundary First Labs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5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guided path through the atlas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66"/>
                </a:solidFill>
              </a:rPr>
              <a:t>The sequence teaches the legend, then opens the full knowledge graph.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2514600" cy="640080"/>
          </a:xfrm>
          <a:prstGeom prst="roundRect">
            <a:avLst>
              <a:gd name="adj" fmla="val 11429"/>
            </a:avLst>
          </a:prstGeom>
          <a:solidFill>
            <a:srgbClr val="F7F2E8"/>
          </a:solidFill>
          <a:ln>
            <a:solidFill>
              <a:srgbClr val="DCE7D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21"/>
                </a:solidFill>
              </a:rPr>
              <a:t>1. There Is No More Outside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29000" y="1280160"/>
            <a:ext cx="2514600" cy="640080"/>
          </a:xfrm>
          <a:prstGeom prst="roundRect">
            <a:avLst>
              <a:gd name="adj" fmla="val 11429"/>
            </a:avLst>
          </a:prstGeom>
          <a:solidFill>
            <a:srgbClr val="F7F2E8"/>
          </a:solidFill>
          <a:ln>
            <a:solidFill>
              <a:srgbClr val="DCE7D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21"/>
                </a:solidFill>
              </a:rPr>
              <a:t>2. Externality Is a Boundary Choice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3640" y="1280160"/>
            <a:ext cx="2514600" cy="640080"/>
          </a:xfrm>
          <a:prstGeom prst="roundRect">
            <a:avLst>
              <a:gd name="adj" fmla="val 11429"/>
            </a:avLst>
          </a:prstGeom>
          <a:solidFill>
            <a:srgbClr val="F7F2E8"/>
          </a:solidFill>
          <a:ln>
            <a:solidFill>
              <a:srgbClr val="DCE7D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21"/>
                </a:solidFill>
              </a:rPr>
              <a:t>3. Business Is Already Artificial Agency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98280" y="1280160"/>
            <a:ext cx="2514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21"/>
                </a:solidFill>
              </a:rPr>
              <a:t>4. AI Accelerates Institutional Agency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2514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21"/>
                </a:solidFill>
              </a:rPr>
              <a:t>5. Abstraction Without Return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2606040"/>
            <a:ext cx="2514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21"/>
                </a:solidFill>
              </a:rPr>
              <a:t>6. Accounting Meets Software Engineering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2606040"/>
            <a:ext cx="2514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21"/>
                </a:solidFill>
              </a:rPr>
              <a:t>7. Boundary First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098280" y="2606040"/>
            <a:ext cx="2514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21"/>
                </a:solidFill>
              </a:rPr>
              <a:t>8. Every Baseline Opens a Field of Variation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931920"/>
            <a:ext cx="2514600" cy="640080"/>
          </a:xfrm>
          <a:prstGeom prst="roundRect">
            <a:avLst>
              <a:gd name="adj" fmla="val 11429"/>
            </a:avLst>
          </a:prstGeom>
          <a:solidFill>
            <a:srgbClr val="DCE7DF"/>
          </a:solidFill>
          <a:ln>
            <a:solidFill>
              <a:srgbClr val="DCE7D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21"/>
                </a:solidFill>
              </a:rPr>
              <a:t>9. Representational Evolution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3931920"/>
            <a:ext cx="2514600" cy="640080"/>
          </a:xfrm>
          <a:prstGeom prst="roundRect">
            <a:avLst>
              <a:gd name="adj" fmla="val 11429"/>
            </a:avLst>
          </a:prstGeom>
          <a:solidFill>
            <a:srgbClr val="DCE7DF"/>
          </a:solidFill>
          <a:ln>
            <a:solidFill>
              <a:srgbClr val="DCE7D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21"/>
                </a:solidFill>
              </a:rPr>
              <a:t>10. Civilizational Mechanics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3931920"/>
            <a:ext cx="2514600" cy="640080"/>
          </a:xfrm>
          <a:prstGeom prst="roundRect">
            <a:avLst>
              <a:gd name="adj" fmla="val 11429"/>
            </a:avLst>
          </a:prstGeom>
          <a:solidFill>
            <a:srgbClr val="DCE7DF"/>
          </a:solidFill>
          <a:ln>
            <a:solidFill>
              <a:srgbClr val="DCE7D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21"/>
                </a:solidFill>
              </a:rPr>
              <a:t>11. Route the Defect to Consequence Closure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98280" y="3931920"/>
            <a:ext cx="2514600" cy="640080"/>
          </a:xfrm>
          <a:prstGeom prst="roundRect">
            <a:avLst>
              <a:gd name="adj" fmla="val 11429"/>
            </a:avLst>
          </a:prstGeom>
          <a:solidFill>
            <a:srgbClr val="DCE7DF"/>
          </a:solidFill>
          <a:ln>
            <a:solidFill>
              <a:srgbClr val="DCE7D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21"/>
                </a:solidFill>
              </a:rPr>
              <a:t>12. Keep the Future Open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C2321"/>
                </a:solidFill>
              </a:rPr>
              <a:t>The reader moves from familiar burdens to operational mechanics, then to repair routes and the full atlas.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Boundary First Labs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5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the right projection for the relation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66"/>
                </a:solidFill>
              </a:rPr>
              <a:t>One graph, several lawful visualizations.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5F4D"/>
                </a:solidFill>
              </a:rPr>
              <a:t>Nested interiors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800600" y="1325880"/>
            <a:ext cx="6309360" cy="411480"/>
          </a:xfrm>
          <a:prstGeom prst="roundRect">
            <a:avLst>
              <a:gd name="adj" fmla="val 17778"/>
            </a:avLst>
          </a:prstGeom>
          <a:solidFill>
            <a:srgbClr val="F7F2E8"/>
          </a:solidFill>
          <a:ln>
            <a:solidFill>
              <a:srgbClr val="F7F2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321"/>
                </a:solidFill>
              </a:rPr>
              <a:t>d3-hierarchy / partition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84248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5F4D"/>
                </a:solidFill>
              </a:rPr>
              <a:t>Burden transfer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00600" y="1984248"/>
            <a:ext cx="6309360" cy="411480"/>
          </a:xfrm>
          <a:prstGeom prst="roundRect">
            <a:avLst>
              <a:gd name="adj" fmla="val 17778"/>
            </a:avLst>
          </a:prstGeom>
          <a:solidFill>
            <a:srgbClr val="F7F2E8"/>
          </a:solidFill>
          <a:ln>
            <a:solidFill>
              <a:srgbClr val="F7F2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321"/>
                </a:solidFill>
              </a:rPr>
              <a:t>d3-sankey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42616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5F4D"/>
                </a:solidFill>
              </a:rPr>
              <a:t>Institutional agency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2642616"/>
            <a:ext cx="6309360" cy="411480"/>
          </a:xfrm>
          <a:prstGeom prst="roundRect">
            <a:avLst>
              <a:gd name="adj" fmla="val 17778"/>
            </a:avLst>
          </a:prstGeom>
          <a:solidFill>
            <a:srgbClr val="F7F2E8"/>
          </a:solidFill>
          <a:ln>
            <a:solidFill>
              <a:srgbClr val="F7F2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321"/>
                </a:solidFill>
              </a:rPr>
              <a:t>d3-force with fixed sectors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300984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5F4D"/>
                </a:solidFill>
              </a:rPr>
              <a:t>Root severances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3300984"/>
            <a:ext cx="6309360" cy="411480"/>
          </a:xfrm>
          <a:prstGeom prst="roundRect">
            <a:avLst>
              <a:gd name="adj" fmla="val 17778"/>
            </a:avLst>
          </a:prstGeom>
          <a:solidFill>
            <a:srgbClr val="F7F2E8"/>
          </a:solidFill>
          <a:ln>
            <a:solidFill>
              <a:srgbClr val="F7F2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321"/>
                </a:solidFill>
              </a:rPr>
              <a:t>d3-cluster radial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959352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5F4D"/>
                </a:solidFill>
              </a:rPr>
              <a:t>Repair routing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3959352"/>
            <a:ext cx="6309360" cy="411480"/>
          </a:xfrm>
          <a:prstGeom prst="roundRect">
            <a:avLst>
              <a:gd name="adj" fmla="val 17778"/>
            </a:avLst>
          </a:prstGeom>
          <a:solidFill>
            <a:srgbClr val="F7F2E8"/>
          </a:solidFill>
          <a:ln>
            <a:solidFill>
              <a:srgbClr val="F7F2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321"/>
                </a:solidFill>
              </a:rPr>
              <a:t>tripartite Sankey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617720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5F4D"/>
                </a:solidFill>
              </a:rPr>
              <a:t>Atlas reveal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4617720"/>
            <a:ext cx="6309360" cy="411480"/>
          </a:xfrm>
          <a:prstGeom prst="roundRect">
            <a:avLst>
              <a:gd name="adj" fmla="val 17778"/>
            </a:avLst>
          </a:prstGeom>
          <a:solidFill>
            <a:srgbClr val="F7F2E8"/>
          </a:solidFill>
          <a:ln>
            <a:solidFill>
              <a:srgbClr val="F7F2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321"/>
                </a:solidFill>
              </a:rPr>
              <a:t>curated semantic coordinates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5623560"/>
            <a:ext cx="10058400" cy="475488"/>
          </a:xfrm>
          <a:prstGeom prst="roundRect">
            <a:avLst>
              <a:gd name="adj" fmla="val 15385"/>
            </a:avLst>
          </a:prstGeom>
          <a:solidFill>
            <a:srgbClr val="1E5F4D"/>
          </a:solidFill>
          <a:ln>
            <a:solidFill>
              <a:srgbClr val="1E5F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Restriction: automatic layouts may manage collision and drag, but must not determine the theory hierarchy.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Boundary First Labs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5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Repair routes turn critique into action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66"/>
                </a:solidFill>
              </a:rPr>
              <a:t>Diagnosis must end in a consequence closure pathway.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321"/>
                </a:solidFill>
              </a:rPr>
              <a:t>Consequence Accounting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63640" y="132588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321"/>
                </a:solidFill>
              </a:rPr>
              <a:t>Agency Governance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321"/>
                </a:solidFill>
              </a:rPr>
              <a:t>Standing and Contestability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214884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321"/>
                </a:solidFill>
              </a:rPr>
              <a:t>Responsibility–Capacity Alignment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321"/>
                </a:solidFill>
              </a:rPr>
              <a:t>Lifecycle Stewardship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63640" y="297180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321"/>
                </a:solidFill>
              </a:rPr>
              <a:t>Provenance and Witness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321"/>
                </a:solidFill>
              </a:rPr>
              <a:t>Local–Global Closure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63640" y="379476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321"/>
                </a:solidFill>
              </a:rPr>
              <a:t>Representational Revision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98348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C2321"/>
                </a:solidFill>
              </a:rPr>
              <a:t>Each route specifies what to inspect, who must be represented, what boundary crossings to trace, and what repair artifacts to produce.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Boundary First Labs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5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Boundary First Labs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241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develops the representational mechanics civilization needs to recognize its consequences, repair its institutions, and evolve before it fails beneath its own models.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7F2E8"/>
          </a:solidFill>
          <a:ln>
            <a:solidFill>
              <a:srgbClr val="F7F2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4D"/>
                </a:solidFill>
              </a:rPr>
              <a:t>No consequence without representation.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80560" y="3657600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F7F2E8"/>
          </a:solidFill>
          <a:ln>
            <a:solidFill>
              <a:srgbClr val="F7F2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F4D"/>
                </a:solidFill>
              </a:rPr>
              <a:t>Responsibility must land.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818120" y="365760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F7F2E8"/>
          </a:solidFill>
          <a:ln>
            <a:solidFill>
              <a:srgbClr val="F7F2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F4D"/>
                </a:solidFill>
              </a:rPr>
              <a:t>Every representation must be repairable.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53492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From abstraction without return to civilization with closure.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Boundary First Labs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38428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A66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Boundary First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Externality to Civilizational Repair</dc:title>
  <dc:subject>Civilizational Mechanics learning pathway</dc:subject>
  <dc:creator>Boundary First Labs</dc:creator>
  <cp:lastModifiedBy>Boundary First Labs</cp:lastModifiedBy>
  <cp:revision>1</cp:revision>
  <dcterms:created xsi:type="dcterms:W3CDTF">2026-07-28T04:28:00Z</dcterms:created>
  <dcterms:modified xsi:type="dcterms:W3CDTF">2026-07-28T04:28:00Z</dcterms:modified>
</cp:coreProperties>
</file>